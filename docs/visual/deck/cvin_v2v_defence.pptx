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224d1e4-6865-57e8-0685-1a34ab70d57c}">
          <p14:sldIdLst>
            <p14:sldId id="256"/>
          </p14:sldIdLst>
        </p14:section>
        <p14:section name="Questions" id="{49cc2b70-db03-6c76-195e-91756454b94d}">
          <p14:sldIdLst>
            <p14:sldId id="257"/>
          </p14:sldIdLst>
        </p14:section>
        <p14:section name="The message path" id="{f60e40f0-e052-87a5-a8a1-174baf46495b}">
          <p14:sldIdLst>
            <p14:sldId id="258"/>
            <p14:sldId id="259"/>
          </p14:sldIdLst>
        </p14:section>
        <p14:section name="Results" id="{e35c1bd1-971e-ce78-1e9c-3549a8dccdde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lose" id="{f211f1a3-0991-6d3a-e555-e7374fc2348e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0B0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0B0B"/>
                </a:solidFill>
                <a:latin typeface="+mn-lt"/>
              </a:rPr>
              <a:t>createIdentity, gas (Hardhat local, solc 0.8.24, cancun)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createIdentity gas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CVIN-Combined</c:v>
                  </c:pt>
                  <c:pt idx="1">
                    <c:v>ERC-1056</c:v>
                  </c:pt>
                  <c:pt idx="2">
                    <c:v>ERC-1155</c:v>
                  </c:pt>
                  <c:pt idx="3">
                    <c:v>LSP8</c:v>
                  </c:pt>
                  <c:pt idx="4">
                    <c:v>MOBI-VID-V2</c:v>
                  </c:pt>
                  <c:pt idx="5">
                    <c:v>ERC-725</c:v>
                  </c:pt>
                  <c:pt idx="6">
                    <c:v>ERC-721</c:v>
                  </c:pt>
                  <c:pt idx="7">
                    <c:v>ERC-4337</c:v>
                  </c:pt>
                  <c:pt idx="8">
                    <c:v>ERC-725xy</c:v>
                  </c:pt>
                  <c:pt idx="9">
                    <c:v>ERC-735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52216</c:v>
                </c:pt>
                <c:pt idx="1">
                  <c:v>52594</c:v>
                </c:pt>
                <c:pt idx="2">
                  <c:v>107729</c:v>
                </c:pt>
                <c:pt idx="3">
                  <c:v>152644</c:v>
                </c:pt>
                <c:pt idx="4">
                  <c:v>299165</c:v>
                </c:pt>
                <c:pt idx="5">
                  <c:v>519384</c:v>
                </c:pt>
                <c:pt idx="6">
                  <c:v>545101</c:v>
                </c:pt>
                <c:pt idx="7">
                  <c:v>759088</c:v>
                </c:pt>
                <c:pt idx="8">
                  <c:v>1680816</c:v>
                </c:pt>
                <c:pt idx="9">
                  <c:v>1757893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2514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 road at the bottom is the deck's motif: blue vehicles carry an SSI / MOBI VID identity (W3C credential, secp256k1), ochre ones a PKI pseudonym certificate (X.509, ECDSA P-256).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RQ4 is highlighted: the rest of the deck shows the V2V message path that answers it, plus the attacks (RQ2) and the gas costs (RQ1).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V-1 and V-2 (docs/visual/FIGURES.md). Each link is a verification that ran. Command: thesis_figures.py traces/sim_50v_20s_seed6.jsonl.gz --t 0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V-5. A finding the tables did not show: the PKI design pays the full chain check again at each rotation.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V-6. The headline number is the result of record (#27, 0.142 ms [0.141, 0.143]); the figure illustrates one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V-15 (F8), from the uncredentialed-rogue trace with --stage-timers.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V-8. The infrastructure attacks (I2, register #45) are drawn by the trunk renderer.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V-13 and V-14. Seed 6, rogue from t = 10 s. Tamper mode: 517 / 517 rejected (signature, binding). The relay limit applies to SSI and PKI alike and is proposed for docs/THREAT_MODEL.md.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V-11 (F7), packet_anatomy.py --seed 1. A bandwidth point for chapter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chart from the results of record (gas_benchmark.json, register #25); the README key-results table carries the same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docs/visual/VISUAL_PLAN.md §1. Every figure footer carries the mobility source, seed, commit and the radio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Decisions for the author: N-4 / P2-D4 on the decision sheet; the relay finding (Phase 5); the packet-size finding (F7).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CVIN-SC · V2V identity · every figure regenerates from a committed trace (docs/visual/FIGURES.md)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SELF-SOVEREIGN IDENTITY FOR CONNECTED VEHICLES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Every V2V message signed, every receiver verifying: the identity layer, shown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98781"/>
                </a:solidFill>
              </a:rPr>
              <a:t>Nikhil Prakash · MASc, Electrical and Computer Engineering, UBC</a:t>
            </a:r>
            <a:endParaRPr lang="en-US" sz="1800" dirty="0"/>
          </a:p>
        </p:txBody>
      </p:sp>
      <p:sp>
        <p:nvSpPr>
          <p:cNvPr id="4" name="motif_lane0"/>
          <p:cNvSpPr/>
          <p:nvPr/>
        </p:nvSpPr>
        <p:spPr>
          <a:xfrm>
            <a:off x="548640" y="4754880"/>
            <a:ext cx="11094415" cy="292608"/>
          </a:xfrm>
          <a:prstGeom prst="rect">
            <a:avLst/>
          </a:prstGeom>
          <a:solidFill>
            <a:srgbClr val="2A2A27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5" name="motif_lane1"/>
          <p:cNvSpPr/>
          <p:nvPr/>
        </p:nvSpPr>
        <p:spPr>
          <a:xfrm>
            <a:off x="548640" y="5120640"/>
            <a:ext cx="11094415" cy="292608"/>
          </a:xfrm>
          <a:prstGeom prst="rect">
            <a:avLst/>
          </a:prstGeom>
          <a:solidFill>
            <a:srgbClr val="2A2A27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6" name="motif_lane2"/>
          <p:cNvSpPr/>
          <p:nvPr/>
        </p:nvSpPr>
        <p:spPr>
          <a:xfrm>
            <a:off x="548640" y="5486400"/>
            <a:ext cx="11094415" cy="292608"/>
          </a:xfrm>
          <a:prstGeom prst="rect">
            <a:avLst/>
          </a:prstGeom>
          <a:solidFill>
            <a:srgbClr val="2A2A27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7" name="motif_car0"/>
          <p:cNvSpPr/>
          <p:nvPr/>
        </p:nvSpPr>
        <p:spPr>
          <a:xfrm>
            <a:off x="992417" y="482803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8" name="motif_car1"/>
          <p:cNvSpPr/>
          <p:nvPr/>
        </p:nvSpPr>
        <p:spPr>
          <a:xfrm>
            <a:off x="1990914" y="5193792"/>
            <a:ext cx="384048" cy="146304"/>
          </a:xfrm>
          <a:prstGeom prst="rect">
            <a:avLst/>
          </a:prstGeom>
          <a:solidFill>
            <a:srgbClr val="C99228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9" name="motif_car2"/>
          <p:cNvSpPr/>
          <p:nvPr/>
        </p:nvSpPr>
        <p:spPr>
          <a:xfrm>
            <a:off x="2989411" y="555955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0" name="motif_car3"/>
          <p:cNvSpPr/>
          <p:nvPr/>
        </p:nvSpPr>
        <p:spPr>
          <a:xfrm>
            <a:off x="3987909" y="482803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1" name="motif_car4"/>
          <p:cNvSpPr/>
          <p:nvPr/>
        </p:nvSpPr>
        <p:spPr>
          <a:xfrm>
            <a:off x="5208294" y="519379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2" name="motif_car5"/>
          <p:cNvSpPr/>
          <p:nvPr/>
        </p:nvSpPr>
        <p:spPr>
          <a:xfrm>
            <a:off x="6095848" y="5559552"/>
            <a:ext cx="384048" cy="146304"/>
          </a:xfrm>
          <a:prstGeom prst="rect">
            <a:avLst/>
          </a:prstGeom>
          <a:solidFill>
            <a:srgbClr val="C99228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3" name="motif_car6"/>
          <p:cNvSpPr/>
          <p:nvPr/>
        </p:nvSpPr>
        <p:spPr>
          <a:xfrm>
            <a:off x="6983401" y="482803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4" name="motif_car7"/>
          <p:cNvSpPr/>
          <p:nvPr/>
        </p:nvSpPr>
        <p:spPr>
          <a:xfrm>
            <a:off x="7870954" y="519379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5" name="motif_car8"/>
          <p:cNvSpPr/>
          <p:nvPr/>
        </p:nvSpPr>
        <p:spPr>
          <a:xfrm>
            <a:off x="8758507" y="555955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6" name="motif_car9"/>
          <p:cNvSpPr/>
          <p:nvPr/>
        </p:nvSpPr>
        <p:spPr>
          <a:xfrm>
            <a:off x="9757005" y="4828032"/>
            <a:ext cx="384048" cy="146304"/>
          </a:xfrm>
          <a:prstGeom prst="rect">
            <a:avLst/>
          </a:prstGeom>
          <a:solidFill>
            <a:srgbClr val="C99228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7" name="motif_car10"/>
          <p:cNvSpPr/>
          <p:nvPr/>
        </p:nvSpPr>
        <p:spPr>
          <a:xfrm>
            <a:off x="10533614" y="519379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8" name="motif_car11"/>
          <p:cNvSpPr/>
          <p:nvPr/>
        </p:nvSpPr>
        <p:spPr>
          <a:xfrm>
            <a:off x="11199279" y="555955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9" name="motif_legend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blue = SSI / MOBI VID   ochre = PKI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 QUESTIONS</a:t>
            </a:r>
            <a:endParaRPr lang="en-US" sz="3200" dirty="0"/>
          </a:p>
        </p:txBody>
      </p:sp>
      <p:sp>
        <p:nvSpPr>
          <p:cNvPr id="3" name="rq1_card"/>
          <p:cNvSpPr/>
          <p:nvPr/>
        </p:nvSpPr>
        <p:spPr>
          <a:xfrm>
            <a:off x="548640" y="13258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1F0E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4" name="rq1_dot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5" name="rq1_id"/>
          <p:cNvSpPr txBox="1"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RQ1</a:t>
            </a:r>
            <a:endParaRPr lang="en-US" sz="1600" dirty="0"/>
          </a:p>
        </p:txBody>
      </p:sp>
      <p:sp>
        <p:nvSpPr>
          <p:cNvPr id="6" name="rq1_head"/>
          <p:cNvSpPr txBox="1"/>
          <p:nvPr/>
        </p:nvSpPr>
        <p:spPr>
          <a:xfrm>
            <a:off x="178308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Cost</a:t>
            </a:r>
            <a:endParaRPr lang="en-US" sz="2200" dirty="0"/>
          </a:p>
        </p:txBody>
      </p:sp>
      <p:sp>
        <p:nvSpPr>
          <p:cNvPr id="7" name="rq1_q"/>
          <p:cNvSpPr txBox="1"/>
          <p:nvPr/>
        </p:nvSpPr>
        <p:spPr>
          <a:xfrm>
            <a:off x="1783080" y="2194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What does a vehicle identity cost on chain, standard by standard?</a:t>
            </a:r>
            <a:endParaRPr lang="en-US" sz="1600" dirty="0"/>
          </a:p>
        </p:txBody>
      </p:sp>
      <p:sp>
        <p:nvSpPr>
          <p:cNvPr id="8" name="rq2_card"/>
          <p:cNvSpPr/>
          <p:nvPr/>
        </p:nvSpPr>
        <p:spPr>
          <a:xfrm>
            <a:off x="6217920" y="13258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1F0E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9" name="rq2_dot"/>
          <p:cNvSpPr/>
          <p:nvPr/>
        </p:nvSpPr>
        <p:spPr>
          <a:xfrm>
            <a:off x="6492240" y="1600200"/>
            <a:ext cx="731520" cy="73152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0" name="rq2_id"/>
          <p:cNvSpPr txBox="1"/>
          <p:nvPr/>
        </p:nvSpPr>
        <p:spPr>
          <a:xfrm>
            <a:off x="64922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RQ2</a:t>
            </a:r>
            <a:endParaRPr lang="en-US" sz="1600" dirty="0"/>
          </a:p>
        </p:txBody>
      </p:sp>
      <p:sp>
        <p:nvSpPr>
          <p:cNvPr id="11" name="rq2_head"/>
          <p:cNvSpPr txBox="1"/>
          <p:nvPr/>
        </p:nvSpPr>
        <p:spPr>
          <a:xfrm>
            <a:off x="745236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Security</a:t>
            </a:r>
            <a:endParaRPr lang="en-US" sz="2200" dirty="0"/>
          </a:p>
        </p:txBody>
      </p:sp>
      <p:sp>
        <p:nvSpPr>
          <p:cNvPr id="12" name="rq2_q"/>
          <p:cNvSpPr txBox="1"/>
          <p:nvPr/>
        </p:nvSpPr>
        <p:spPr>
          <a:xfrm>
            <a:off x="7452360" y="2194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Which architecture rejects the V2X attacks of the threat model?</a:t>
            </a:r>
            <a:endParaRPr lang="en-US" sz="1600" dirty="0"/>
          </a:p>
        </p:txBody>
      </p:sp>
      <p:sp>
        <p:nvSpPr>
          <p:cNvPr id="13" name="rq3_card"/>
          <p:cNvSpPr/>
          <p:nvPr/>
        </p:nvSpPr>
        <p:spPr>
          <a:xfrm>
            <a:off x="548640" y="3703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1F0E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4" name="rq3_dot"/>
          <p:cNvSpPr/>
          <p:nvPr/>
        </p:nvSpPr>
        <p:spPr>
          <a:xfrm>
            <a:off x="822960" y="3977640"/>
            <a:ext cx="731520" cy="73152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5" name="rq3_id"/>
          <p:cNvSpPr txBox="1"/>
          <p:nvPr/>
        </p:nvSpPr>
        <p:spPr>
          <a:xfrm>
            <a:off x="82296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RQ3</a:t>
            </a:r>
            <a:endParaRPr lang="en-US" sz="1600" dirty="0"/>
          </a:p>
        </p:txBody>
      </p:sp>
      <p:sp>
        <p:nvSpPr>
          <p:cNvPr id="16" name="rq3_head"/>
          <p:cNvSpPr txBox="1"/>
          <p:nvPr/>
        </p:nvSpPr>
        <p:spPr>
          <a:xfrm>
            <a:off x="178308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Compliance</a:t>
            </a:r>
            <a:endParaRPr lang="en-US" sz="2200" dirty="0"/>
          </a:p>
        </p:txBody>
      </p:sp>
      <p:sp>
        <p:nvSpPr>
          <p:cNvPr id="17" name="rq3_q"/>
          <p:cNvSpPr txBox="1"/>
          <p:nvPr/>
        </p:nvSpPr>
        <p:spPr>
          <a:xfrm>
            <a:off x="1783080" y="45720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Can a blockchain identity layer meet W3C DID and VC and MOBI VID?</a:t>
            </a:r>
            <a:endParaRPr lang="en-US" sz="1600" dirty="0"/>
          </a:p>
        </p:txBody>
      </p:sp>
      <p:sp>
        <p:nvSpPr>
          <p:cNvPr id="18" name="rq4_card"/>
          <p:cNvSpPr/>
          <p:nvPr/>
        </p:nvSpPr>
        <p:spPr>
          <a:xfrm>
            <a:off x="6217920" y="3703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1F0EB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9" name="rq4_dot"/>
          <p:cNvSpPr/>
          <p:nvPr/>
        </p:nvSpPr>
        <p:spPr>
          <a:xfrm>
            <a:off x="6492240" y="3977640"/>
            <a:ext cx="731520" cy="7315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20" name="rq4_id"/>
          <p:cNvSpPr txBox="1"/>
          <p:nvPr/>
        </p:nvSpPr>
        <p:spPr>
          <a:xfrm>
            <a:off x="649224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RQ4</a:t>
            </a:r>
            <a:endParaRPr lang="en-US" sz="1600" dirty="0"/>
          </a:p>
        </p:txBody>
      </p:sp>
      <p:sp>
        <p:nvSpPr>
          <p:cNvPr id="21" name="rq4_head"/>
          <p:cNvSpPr txBox="1"/>
          <p:nvPr/>
        </p:nvSpPr>
        <p:spPr>
          <a:xfrm>
            <a:off x="745236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Real time</a:t>
            </a:r>
            <a:endParaRPr lang="en-US" sz="2200" dirty="0"/>
          </a:p>
        </p:txBody>
      </p:sp>
      <p:sp>
        <p:nvSpPr>
          <p:cNvPr id="22" name="rq4_q"/>
          <p:cNvSpPr txBox="1"/>
          <p:nvPr/>
        </p:nvSpPr>
        <p:spPr>
          <a:xfrm>
            <a:off x="7452360" y="45720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Does credential verification fit the 100 ms V2V safety budget?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ROAD, 100 MS AT A TIME</a:t>
            </a:r>
            <a:endParaRPr lang="en-US" sz="3200" dirty="0"/>
          </a:p>
        </p:txBody>
      </p:sp>
      <p:pic>
        <p:nvPicPr>
          <p:cNvPr id="3" name="fig_f1_t0" descr="Road frame at t = 0 s: first contacts, cold verif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689249" cy="2514600"/>
          </a:xfrm>
          <a:prstGeom prst="rect">
            <a:avLst/>
          </a:prstGeom>
        </p:spPr>
      </p:pic>
      <p:pic>
        <p:nvPicPr>
          <p:cNvPr id="4" name="fig_f1_t15" descr="Road frame at t = 15 s: steady state, warm verific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4760"/>
            <a:ext cx="6666014" cy="2514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503920" y="1280160"/>
            <a:ext cx="3154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 = 0 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Every neighbour is a first contact: links are cold, full credential verification.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 = 15 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Steady state: one signature check against a cached key per message.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2514E"/>
                </a:solidFill>
              </a:rPr>
              <a:t>50 vehicles, 10 Hz, seed 6 of the registered N = 30 set; mock mobility, no radio channel.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VERIFY ONCE, CHECK EVERY MESSAGE</a:t>
            </a:r>
            <a:endParaRPr lang="en-US" sz="3200" dirty="0"/>
          </a:p>
        </p:txBody>
      </p:sp>
      <p:pic>
        <p:nvPicPr>
          <p:cNvPr id="3" name="fig_f2" descr="Contact matrix: one receiver's peers over time, cold at first contact then wa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94415" cy="42023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PKI peers re-enter cold at every pseudonym-certificate rotation (every 100 messages); an SSI peer's DID binding is verified once per encounter.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VERIFICATION, AGAINST THE BUDGET</a:t>
            </a:r>
            <a:endParaRPr lang="en-US" sz="3200" dirty="0"/>
          </a:p>
        </p:txBody>
      </p:sp>
      <p:pic>
        <p:nvPicPr>
          <p:cNvPr id="3" name="fig_f3" descr="All 50,818 verifications of seed 6 on a log scale against 10 ms and 100 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863840" cy="2966452"/>
          </a:xfrm>
          <a:prstGeom prst="rect">
            <a:avLst/>
          </a:prstGeom>
        </p:spPr>
      </p:pic>
      <p:sp>
        <p:nvSpPr>
          <p:cNvPr id="4" name="warm_value"/>
          <p:cNvSpPr txBox="1"/>
          <p:nvPr/>
        </p:nvSpPr>
        <p:spPr>
          <a:xfrm>
            <a:off x="8732520" y="1371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0.142 ms</a:t>
            </a:r>
            <a:endParaRPr lang="en-US" sz="4800" dirty="0"/>
          </a:p>
        </p:txBody>
      </p:sp>
      <p:sp>
        <p:nvSpPr>
          <p:cNvPr id="5" name="warm_label"/>
          <p:cNvSpPr txBox="1"/>
          <p:nvPr/>
        </p:nvSpPr>
        <p:spPr>
          <a:xfrm>
            <a:off x="8732520" y="2240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SSI warm verify, median of 30 run-medians (register #27)</a:t>
            </a:r>
            <a:endParaRPr lang="en-US" sz="1400" dirty="0"/>
          </a:p>
        </p:txBody>
      </p:sp>
      <p:sp>
        <p:nvSpPr>
          <p:cNvPr id="6" name="budget_value"/>
          <p:cNvSpPr txBox="1"/>
          <p:nvPr/>
        </p:nvSpPr>
        <p:spPr>
          <a:xfrm>
            <a:off x="8732520" y="3154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ms</a:t>
            </a:r>
            <a:endParaRPr lang="en-US" sz="4800" dirty="0"/>
          </a:p>
        </p:txBody>
      </p:sp>
      <p:sp>
        <p:nvSpPr>
          <p:cNvPr id="7" name="budget_label"/>
          <p:cNvSpPr txBox="1"/>
          <p:nvPr/>
        </p:nvSpPr>
        <p:spPr>
          <a:xfrm>
            <a:off x="8732520" y="4023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SAE J2945/1-derived V2V budget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Compute latency only: no radio, MAC or channel loss is modelled.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COLD LATENCY GOES</a:t>
            </a:r>
            <a:endParaRPr lang="en-US" sz="3200" dirty="0"/>
          </a:p>
        </p:txBody>
      </p:sp>
      <p:pic>
        <p:nvPicPr>
          <p:cNvPr id="3" name="fig_f8" descr="Median ms per stage of first-contact verification, SSI and PK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94415" cy="2812252"/>
          </a:xfrm>
          <a:prstGeom prst="rect">
            <a:avLst/>
          </a:prstGeom>
        </p:spPr>
      </p:pic>
      <p:sp>
        <p:nvSpPr>
          <p:cNvPr id="4" name="ssi_cred_value"/>
          <p:cNvSpPr txBox="1"/>
          <p:nvPr/>
        </p:nvSpPr>
        <p:spPr>
          <a:xfrm>
            <a:off x="548640" y="4526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0.259 ms</a:t>
            </a:r>
            <a:endParaRPr lang="en-US" sz="4800" dirty="0"/>
          </a:p>
        </p:txBody>
      </p:sp>
      <p:sp>
        <p:nvSpPr>
          <p:cNvPr id="5" name="ssi_cred_label"/>
          <p:cNvSpPr txBox="1"/>
          <p:nvPr/>
        </p:nvSpPr>
        <p:spPr>
          <a:xfrm>
            <a:off x="548640" y="5394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SSI credential step: W3C VC verify + DID binding</a:t>
            </a:r>
            <a:endParaRPr lang="en-US" sz="1400" dirty="0"/>
          </a:p>
        </p:txBody>
      </p:sp>
      <p:sp>
        <p:nvSpPr>
          <p:cNvPr id="6" name="pki_cred_value"/>
          <p:cNvSpPr txBox="1"/>
          <p:nvPr/>
        </p:nvSpPr>
        <p:spPr>
          <a:xfrm>
            <a:off x="4297680" y="4526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0.126 ms</a:t>
            </a:r>
            <a:endParaRPr lang="en-US" sz="4800" dirty="0"/>
          </a:p>
        </p:txBody>
      </p:sp>
      <p:sp>
        <p:nvSpPr>
          <p:cNvPr id="7" name="pki_cred_label"/>
          <p:cNvSpPr txBox="1"/>
          <p:nvPr/>
        </p:nvSpPr>
        <p:spPr>
          <a:xfrm>
            <a:off x="4297680" y="5394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PKI credential step: X.509 chain + validity + CRL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617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Measured with stage timers on, so these are proportions; results of record stay #27.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SEVEN ATTACKS, SEVEN REJECTIONS</a:t>
            </a:r>
            <a:endParaRPr lang="en-US" sz="3200" dirty="0"/>
          </a:p>
        </p:txBody>
      </p:sp>
      <p:pic>
        <p:nvPicPr>
          <p:cNvPr id="3" name="fig_f4" descr="Attack board: tampered, stale, replayed and uncredentialed messages, each rej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309360" cy="500742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223760" y="146304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Injected after every run, in both populations: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tampered, stale and replayed BSMs, and a sender with a key and a DID but no credential.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Pass or fail is computed by the receiver's real verification path, not asserted.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30 / 30 runs in the register.</a:t>
            </a:r>
            <a:endParaRPr lang="en-US" sz="1600" dirty="0"/>
          </a:p>
        </p:txBody>
      </p:sp>
      <p:sp>
        <p:nvSpPr>
          <p:cNvPr id="5" name="stamp_rejected"/>
          <p:cNvSpPr txBox="1"/>
          <p:nvPr/>
        </p:nvSpPr>
        <p:spPr>
          <a:xfrm rot="-360000">
            <a:off x="7498080" y="4937760"/>
            <a:ext cx="2103120" cy="457200"/>
          </a:xfrm>
          <a:prstGeom prst="rect">
            <a:avLst/>
          </a:prstGeom>
          <a:noFill/>
          <a:ln w="25400">
            <a:solidFill>
              <a:srgbClr val="FF3D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 ATTACKER ON THE ROAD</a:t>
            </a:r>
            <a:endParaRPr lang="en-US" sz="3200" dirty="0"/>
          </a:p>
        </p:txBody>
      </p:sp>
      <p:pic>
        <p:nvPicPr>
          <p:cNvPr id="3" name="fig_f1_rogue" descr="Road frame at t = 12 s with the rogue vehicle and its rejected lin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680960" cy="2866381"/>
          </a:xfrm>
          <a:prstGeom prst="rect">
            <a:avLst/>
          </a:prstGeom>
        </p:spPr>
      </p:pic>
      <p:pic>
        <p:nvPicPr>
          <p:cNvPr id="4" name="fig_f9_replay" descr="Replay-mode rejections over time and the 17 accepted relay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60520"/>
            <a:ext cx="6515613" cy="2194560"/>
          </a:xfrm>
          <a:prstGeom prst="rect">
            <a:avLst/>
          </a:prstGeom>
        </p:spPr>
      </p:pic>
      <p:sp>
        <p:nvSpPr>
          <p:cNvPr id="5" name="uncred_value"/>
          <p:cNvSpPr txBox="1"/>
          <p:nvPr/>
        </p:nvSpPr>
        <p:spPr>
          <a:xfrm>
            <a:off x="8595360" y="1325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617</a:t>
            </a:r>
            <a:endParaRPr lang="en-US" sz="4800" dirty="0"/>
          </a:p>
        </p:txBody>
      </p:sp>
      <p:sp>
        <p:nvSpPr>
          <p:cNvPr id="6" name="uncred_label"/>
          <p:cNvSpPr txBox="1"/>
          <p:nvPr/>
        </p:nvSpPr>
        <p:spPr>
          <a:xfrm>
            <a:off x="8595360" y="2194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617 uncredentialed rogue messages rejected</a:t>
            </a:r>
            <a:endParaRPr lang="en-US" sz="1400" dirty="0"/>
          </a:p>
        </p:txBody>
      </p:sp>
      <p:sp>
        <p:nvSpPr>
          <p:cNvPr id="7" name="relay_value"/>
          <p:cNvSpPr txBox="1"/>
          <p:nvPr/>
        </p:nvSpPr>
        <p:spPr>
          <a:xfrm>
            <a:off x="8595360" y="3063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4800" dirty="0"/>
          </a:p>
        </p:txBody>
      </p:sp>
      <p:sp>
        <p:nvSpPr>
          <p:cNvPr id="8" name="relay_label"/>
          <p:cNvSpPr txBox="1"/>
          <p:nvPr/>
        </p:nvSpPr>
        <p:spPr>
          <a:xfrm>
            <a:off x="8595360" y="3931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replays accepted: fresh genuine messages relayed to receivers that missed the original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4983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Authenticity holds; reach is extended. A position-plausibility check would close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MESSAGE, ANATOMISED</a:t>
            </a:r>
            <a:endParaRPr lang="en-US" sz="3200" dirty="0"/>
          </a:p>
        </p:txBody>
      </p:sp>
      <p:pic>
        <p:nvPicPr>
          <p:cNvPr id="3" name="fig_f7" descr="Bytes per field of one signed SSI and one signed PKI BS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94415" cy="40410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The 1,408 B credential rides on every SSI message as the harness packages it, though a receiver needs it only at first contact. Compact-JSON sizes, not over-the-air ASN.1.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AN IDENTITY COSTS ON CHAIN</a:t>
            </a:r>
            <a:endParaRPr lang="en-US" sz="3200" dirty="0"/>
          </a:p>
        </p:txBody>
      </p:sp>
      <p:graphicFrame>
        <p:nvGraphicFramePr>
          <p:cNvPr id="3" name="gas_chart" descr=""/>
          <p:cNvGraphicFramePr/>
          <p:nvPr/>
        </p:nvGraphicFramePr>
        <p:xfrm>
          <a:off x="548640" y="1188720"/>
          <a:ext cx="786384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pread_value"/>
          <p:cNvSpPr txBox="1"/>
          <p:nvPr/>
        </p:nvSpPr>
        <p:spPr>
          <a:xfrm>
            <a:off x="8732520" y="1371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33.7×</a:t>
            </a:r>
            <a:endParaRPr lang="en-US" sz="4800" dirty="0"/>
          </a:p>
        </p:txBody>
      </p:sp>
      <p:sp>
        <p:nvSpPr>
          <p:cNvPr id="5" name="spread_label"/>
          <p:cNvSpPr txBox="1"/>
          <p:nvPr/>
        </p:nvSpPr>
        <p:spPr>
          <a:xfrm>
            <a:off x="8732520" y="2240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spread, ERC-735 against CVIN-Combined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32461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Source: 4_comparison-framework/results/gas_benchmark.json (register #25, commit 7a59058). MOBI-VID-V2 is an application profile, not a base standard.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PICTURES MAY CLAIM</a:t>
            </a:r>
            <a:endParaRPr lang="en-US" sz="3200" dirty="0"/>
          </a:p>
        </p:txBody>
      </p:sp>
      <p:graphicFrame>
        <p:nvGraphicFramePr>
          <p:cNvPr id="12" name="clai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846320"/>
                <a:gridCol w="35021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CFC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the pictures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CFC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or mock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CFC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caption may say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Signing of each BSM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Real: ECDSA P-256 (PKI), secp256k1 EIP-191 (SSI)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message is actually signed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Cold and warm verification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Real: X.509 chain and CRL; W3C VC and signature recovery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link drawn is a verification that ran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on any axis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Real: time.perf_counter around the cryptographic call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 latency of identity verification only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 motion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 kinematic model, or SUMO 1.28 over TraCI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mobility source, always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Radio channel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Mock: in-process delivery to the 8 nearest within 300 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radio, MAC or channel loss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blockchain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the V2V loop: credentials verified off chain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a chain read per message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WHAT IS NEXT</a:t>
            </a:r>
            <a:endParaRPr lang="en-US" sz="4000" dirty="0"/>
          </a:p>
        </p:txBody>
      </p:sp>
      <p:sp>
        <p:nvSpPr>
          <p:cNvPr id="3" name="next_list"/>
          <p:cNvSpPr txBox="1"/>
          <p:nvPr/>
        </p:nvSpPr>
        <p:spPr>
          <a:xfrm>
            <a:off x="548640" y="21945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Decide N-4: SUMO for illustrations only, or S1–S3 at N = 30 in TraCI mode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State the relay limit in the threat model, with a position-plausibility check as the remedy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Send the credential on first contact, not on every message, and measure the bandwidth</a:t>
            </a:r>
            <a:endParaRPr lang="en-US" sz="2000" dirty="0"/>
          </a:p>
        </p:txBody>
      </p:sp>
      <p:sp>
        <p:nvSpPr>
          <p:cNvPr id="4" name="motif_end_lane0"/>
          <p:cNvSpPr/>
          <p:nvPr/>
        </p:nvSpPr>
        <p:spPr>
          <a:xfrm>
            <a:off x="548640" y="5029200"/>
            <a:ext cx="11094415" cy="292608"/>
          </a:xfrm>
          <a:prstGeom prst="rect">
            <a:avLst/>
          </a:prstGeom>
          <a:solidFill>
            <a:srgbClr val="2A2A27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5" name="motif_end_lane1"/>
          <p:cNvSpPr/>
          <p:nvPr/>
        </p:nvSpPr>
        <p:spPr>
          <a:xfrm>
            <a:off x="548640" y="5394960"/>
            <a:ext cx="11094415" cy="292608"/>
          </a:xfrm>
          <a:prstGeom prst="rect">
            <a:avLst/>
          </a:prstGeom>
          <a:solidFill>
            <a:srgbClr val="2A2A27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6" name="motif_end_lane2"/>
          <p:cNvSpPr/>
          <p:nvPr/>
        </p:nvSpPr>
        <p:spPr>
          <a:xfrm>
            <a:off x="548640" y="5760720"/>
            <a:ext cx="11094415" cy="292608"/>
          </a:xfrm>
          <a:prstGeom prst="rect">
            <a:avLst/>
          </a:prstGeom>
          <a:solidFill>
            <a:srgbClr val="2A2A27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7" name="motif_end_car0"/>
          <p:cNvSpPr/>
          <p:nvPr/>
        </p:nvSpPr>
        <p:spPr>
          <a:xfrm>
            <a:off x="992417" y="510235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8" name="motif_end_car1"/>
          <p:cNvSpPr/>
          <p:nvPr/>
        </p:nvSpPr>
        <p:spPr>
          <a:xfrm>
            <a:off x="1990914" y="5468112"/>
            <a:ext cx="384048" cy="146304"/>
          </a:xfrm>
          <a:prstGeom prst="rect">
            <a:avLst/>
          </a:prstGeom>
          <a:solidFill>
            <a:srgbClr val="C99228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9" name="motif_end_car2"/>
          <p:cNvSpPr/>
          <p:nvPr/>
        </p:nvSpPr>
        <p:spPr>
          <a:xfrm>
            <a:off x="2989411" y="583387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0" name="motif_end_car3"/>
          <p:cNvSpPr/>
          <p:nvPr/>
        </p:nvSpPr>
        <p:spPr>
          <a:xfrm>
            <a:off x="3987909" y="510235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1" name="motif_end_car4"/>
          <p:cNvSpPr/>
          <p:nvPr/>
        </p:nvSpPr>
        <p:spPr>
          <a:xfrm>
            <a:off x="5208294" y="546811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2" name="motif_end_car5"/>
          <p:cNvSpPr/>
          <p:nvPr/>
        </p:nvSpPr>
        <p:spPr>
          <a:xfrm>
            <a:off x="6095848" y="5833872"/>
            <a:ext cx="384048" cy="146304"/>
          </a:xfrm>
          <a:prstGeom prst="rect">
            <a:avLst/>
          </a:prstGeom>
          <a:solidFill>
            <a:srgbClr val="C99228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3" name="motif_end_car6"/>
          <p:cNvSpPr/>
          <p:nvPr/>
        </p:nvSpPr>
        <p:spPr>
          <a:xfrm>
            <a:off x="6983401" y="510235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4" name="motif_end_car7"/>
          <p:cNvSpPr/>
          <p:nvPr/>
        </p:nvSpPr>
        <p:spPr>
          <a:xfrm>
            <a:off x="7870954" y="546811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5" name="motif_end_car8"/>
          <p:cNvSpPr/>
          <p:nvPr/>
        </p:nvSpPr>
        <p:spPr>
          <a:xfrm>
            <a:off x="8758507" y="583387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6" name="motif_end_car9"/>
          <p:cNvSpPr/>
          <p:nvPr/>
        </p:nvSpPr>
        <p:spPr>
          <a:xfrm>
            <a:off x="9757005" y="5102352"/>
            <a:ext cx="384048" cy="146304"/>
          </a:xfrm>
          <a:prstGeom prst="rect">
            <a:avLst/>
          </a:prstGeom>
          <a:solidFill>
            <a:srgbClr val="C99228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7" name="motif_end_car10"/>
          <p:cNvSpPr/>
          <p:nvPr/>
        </p:nvSpPr>
        <p:spPr>
          <a:xfrm>
            <a:off x="10533614" y="546811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18" name="motif_end_car11"/>
          <p:cNvSpPr/>
          <p:nvPr/>
        </p:nvSpPr>
        <p:spPr>
          <a:xfrm>
            <a:off x="11199279" y="5833872"/>
            <a:ext cx="384048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0B0B0B"/>
            </a:solidFill>
            <a:prstDash val="solid"/>
          </a:ln>
        </p:spPr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548640" y="2743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VIN Academic Urban">
  <a:themeElements>
    <a:clrScheme name="CVIN Academic Urban">
      <a:dk1>
        <a:srgbClr val="0B0B0B"/>
      </a:dk1>
      <a:lt1>
        <a:srgbClr val="FCFCFB"/>
      </a:lt1>
      <a:dk2>
        <a:srgbClr val="52514E"/>
      </a:dk2>
      <a:lt2>
        <a:srgbClr val="F1F0EB"/>
      </a:lt2>
      <a:accent1>
        <a:srgbClr val="2A78D6"/>
      </a:accent1>
      <a:accent2>
        <a:srgbClr val="C99228"/>
      </a:accent2>
      <a:accent3>
        <a:srgbClr val="FF3D00"/>
      </a:accent3>
      <a:accent4>
        <a:srgbClr val="898781"/>
      </a:accent4>
      <a:accent5>
        <a:srgbClr val="D03B3B"/>
      </a:accent5>
      <a:accent6>
        <a:srgbClr val="0CA30C"/>
      </a:accent6>
      <a:hlink>
        <a:srgbClr val="2A78D6"/>
      </a:hlink>
      <a:folHlink>
        <a:srgbClr val="52514E"/>
      </a:folHlink>
    </a:clrScheme>
    <a:fontScheme name="CVIN Academic Urban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Self-Sovereign Identity for Connected Vehicles: the V2V message path, shown</dc:title>
  <dc:subject>PptxGenJS Presentation</dc:subject>
  <dc:creator>Nikhil Prakash</dc:creator>
  <cp:lastModifiedBy>Nikhil Prakash</cp:lastModifiedBy>
  <cp:revision>1</cp:revision>
  <dcterms:created xsi:type="dcterms:W3CDTF">2026-10-31T13:38:40Z</dcterms:created>
  <dcterms:modified xsi:type="dcterms:W3CDTF">2026-10-31T13:38:40Z</dcterms:modified>
</cp:coreProperties>
</file>